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417" r:id="rId5"/>
    <p:sldId id="489" r:id="rId6"/>
    <p:sldId id="470" r:id="rId7"/>
    <p:sldId id="643" r:id="rId8"/>
    <p:sldId id="473" r:id="rId9"/>
    <p:sldId id="471" r:id="rId10"/>
    <p:sldId id="554" r:id="rId11"/>
    <p:sldId id="641" r:id="rId12"/>
    <p:sldId id="644" r:id="rId13"/>
    <p:sldId id="555" r:id="rId14"/>
    <p:sldId id="645" r:id="rId15"/>
    <p:sldId id="558" r:id="rId16"/>
    <p:sldId id="472" r:id="rId17"/>
    <p:sldId id="557" r:id="rId18"/>
  </p:sldIdLst>
  <p:sldSz cx="12192000" cy="6858000"/>
  <p:notesSz cx="6858000" cy="9144000"/>
  <p:embeddedFontLst>
    <p:embeddedFont>
      <p:font typeface="Inter" panose="020B0604020202020204" charset="0"/>
      <p:regular r:id="rId21"/>
      <p:bold r:id="rId22"/>
    </p:embeddedFont>
    <p:embeddedFont>
      <p:font typeface="Inter Bold" panose="020B0604020202020204" charset="0"/>
      <p:bold r:id="rId23"/>
    </p:embeddedFont>
    <p:embeddedFont>
      <p:font typeface="Poppins SemiBold" panose="00000700000000000000" pitchFamily="2" charset="0"/>
      <p:bold r:id="rId24"/>
      <p:boldItalic r:id="rId25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2F0262-37F4-47A8-B98C-004B30A9F6B3}" v="203" dt="2026-04-06T18:52:17.4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custSel addSld delSld modSld sldOrd">
      <pc:chgData name="Virve Räni" userId="161a7437-7ef4-49ec-91bf-54882f313dfe" providerId="ADAL" clId="{6D754EED-65AA-4A21-B175-6769012CF487}" dt="2026-04-06T19:42:00.933" v="579" actId="20577"/>
      <pc:docMkLst>
        <pc:docMk/>
      </pc:docMkLst>
      <pc:sldChg chg="modSp mod">
        <pc:chgData name="Virve Räni" userId="161a7437-7ef4-49ec-91bf-54882f313dfe" providerId="ADAL" clId="{6D754EED-65AA-4A21-B175-6769012CF487}" dt="2026-04-06T18:37:38.084" v="214" actId="20577"/>
        <pc:sldMkLst>
          <pc:docMk/>
          <pc:sldMk cId="537446728" sldId="470"/>
        </pc:sldMkLst>
        <pc:spChg chg="mod">
          <ac:chgData name="Virve Räni" userId="161a7437-7ef4-49ec-91bf-54882f313dfe" providerId="ADAL" clId="{6D754EED-65AA-4A21-B175-6769012CF487}" dt="2026-04-06T18:37:38.084" v="214" actId="20577"/>
          <ac:spMkLst>
            <pc:docMk/>
            <pc:sldMk cId="537446728" sldId="470"/>
            <ac:spMk id="5" creationId="{78C1C2EC-E034-3DAF-EC3F-59EA67456D88}"/>
          </ac:spMkLst>
        </pc:spChg>
      </pc:sldChg>
      <pc:sldChg chg="modSp ord modAnim">
        <pc:chgData name="Virve Räni" userId="161a7437-7ef4-49ec-91bf-54882f313dfe" providerId="ADAL" clId="{6D754EED-65AA-4A21-B175-6769012CF487}" dt="2026-04-06T18:52:17.470" v="420" actId="20577"/>
        <pc:sldMkLst>
          <pc:docMk/>
          <pc:sldMk cId="791438371" sldId="471"/>
        </pc:sldMkLst>
        <pc:spChg chg="mod">
          <ac:chgData name="Virve Räni" userId="161a7437-7ef4-49ec-91bf-54882f313dfe" providerId="ADAL" clId="{6D754EED-65AA-4A21-B175-6769012CF487}" dt="2026-04-06T18:52:17.470" v="420" actId="20577"/>
          <ac:spMkLst>
            <pc:docMk/>
            <pc:sldMk cId="791438371" sldId="471"/>
            <ac:spMk id="5" creationId="{F6EFDB5F-311B-A003-161F-6FE2F574F60B}"/>
          </ac:spMkLst>
        </pc:spChg>
      </pc:sldChg>
      <pc:sldChg chg="ord">
        <pc:chgData name="Virve Räni" userId="161a7437-7ef4-49ec-91bf-54882f313dfe" providerId="ADAL" clId="{6D754EED-65AA-4A21-B175-6769012CF487}" dt="2026-04-06T19:40:29.013" v="489"/>
        <pc:sldMkLst>
          <pc:docMk/>
          <pc:sldMk cId="3435446401" sldId="472"/>
        </pc:sldMkLst>
      </pc:sldChg>
      <pc:sldChg chg="modSp mod ord">
        <pc:chgData name="Virve Räni" userId="161a7437-7ef4-49ec-91bf-54882f313dfe" providerId="ADAL" clId="{6D754EED-65AA-4A21-B175-6769012CF487}" dt="2026-04-06T18:42:12.266" v="244" actId="20577"/>
        <pc:sldMkLst>
          <pc:docMk/>
          <pc:sldMk cId="493806120" sldId="473"/>
        </pc:sldMkLst>
        <pc:spChg chg="mod">
          <ac:chgData name="Virve Räni" userId="161a7437-7ef4-49ec-91bf-54882f313dfe" providerId="ADAL" clId="{6D754EED-65AA-4A21-B175-6769012CF487}" dt="2026-04-06T18:20:22.169" v="72" actId="20577"/>
          <ac:spMkLst>
            <pc:docMk/>
            <pc:sldMk cId="493806120" sldId="473"/>
            <ac:spMk id="2" creationId="{04BB82FD-643F-6AFD-B782-B19E179EA81B}"/>
          </ac:spMkLst>
        </pc:spChg>
        <pc:spChg chg="mod">
          <ac:chgData name="Virve Räni" userId="161a7437-7ef4-49ec-91bf-54882f313dfe" providerId="ADAL" clId="{6D754EED-65AA-4A21-B175-6769012CF487}" dt="2026-04-06T18:42:12.266" v="244" actId="20577"/>
          <ac:spMkLst>
            <pc:docMk/>
            <pc:sldMk cId="493806120" sldId="473"/>
            <ac:spMk id="3" creationId="{7325113B-F938-FA92-45B7-A088D0CA4519}"/>
          </ac:spMkLst>
        </pc:spChg>
      </pc:sldChg>
      <pc:sldChg chg="modSp mod">
        <pc:chgData name="Virve Räni" userId="161a7437-7ef4-49ec-91bf-54882f313dfe" providerId="ADAL" clId="{6D754EED-65AA-4A21-B175-6769012CF487}" dt="2026-04-06T19:42:00.933" v="579" actId="20577"/>
        <pc:sldMkLst>
          <pc:docMk/>
          <pc:sldMk cId="2246918780" sldId="489"/>
        </pc:sldMkLst>
        <pc:spChg chg="mod">
          <ac:chgData name="Virve Räni" userId="161a7437-7ef4-49ec-91bf-54882f313dfe" providerId="ADAL" clId="{6D754EED-65AA-4A21-B175-6769012CF487}" dt="2026-03-16T10:55:57.597" v="6" actId="20577"/>
          <ac:spMkLst>
            <pc:docMk/>
            <pc:sldMk cId="2246918780" sldId="489"/>
            <ac:spMk id="2" creationId="{46A291BE-55D8-719B-FCEB-18D326A15990}"/>
          </ac:spMkLst>
        </pc:spChg>
        <pc:graphicFrameChg chg="modGraphic">
          <ac:chgData name="Virve Räni" userId="161a7437-7ef4-49ec-91bf-54882f313dfe" providerId="ADAL" clId="{6D754EED-65AA-4A21-B175-6769012CF487}" dt="2026-04-06T19:42:00.933" v="579" actId="20577"/>
          <ac:graphicFrameMkLst>
            <pc:docMk/>
            <pc:sldMk cId="2246918780" sldId="489"/>
            <ac:graphicFrameMk id="5" creationId="{55805DDA-288D-DB3E-2A59-EC7449C89D98}"/>
          </ac:graphicFrameMkLst>
        </pc:graphicFrameChg>
      </pc:sldChg>
      <pc:sldChg chg="del">
        <pc:chgData name="Virve Räni" userId="161a7437-7ef4-49ec-91bf-54882f313dfe" providerId="ADAL" clId="{6D754EED-65AA-4A21-B175-6769012CF487}" dt="2026-04-06T19:39:48.544" v="422" actId="47"/>
        <pc:sldMkLst>
          <pc:docMk/>
          <pc:sldMk cId="1821779248" sldId="490"/>
        </pc:sldMkLst>
      </pc:sldChg>
      <pc:sldChg chg="modSp del mod">
        <pc:chgData name="Virve Räni" userId="161a7437-7ef4-49ec-91bf-54882f313dfe" providerId="ADAL" clId="{6D754EED-65AA-4A21-B175-6769012CF487}" dt="2026-04-06T19:39:31.240" v="421" actId="47"/>
        <pc:sldMkLst>
          <pc:docMk/>
          <pc:sldMk cId="109165733" sldId="556"/>
        </pc:sldMkLst>
      </pc:sldChg>
      <pc:sldChg chg="ord">
        <pc:chgData name="Virve Räni" userId="161a7437-7ef4-49ec-91bf-54882f313dfe" providerId="ADAL" clId="{6D754EED-65AA-4A21-B175-6769012CF487}" dt="2026-04-06T19:40:31.228" v="491"/>
        <pc:sldMkLst>
          <pc:docMk/>
          <pc:sldMk cId="151507908" sldId="557"/>
        </pc:sldMkLst>
      </pc:sldChg>
      <pc:sldChg chg="modSp mod ord">
        <pc:chgData name="Virve Räni" userId="161a7437-7ef4-49ec-91bf-54882f313dfe" providerId="ADAL" clId="{6D754EED-65AA-4A21-B175-6769012CF487}" dt="2026-04-06T18:21:05.567" v="80"/>
        <pc:sldMkLst>
          <pc:docMk/>
          <pc:sldMk cId="1137972440" sldId="641"/>
        </pc:sldMkLst>
        <pc:spChg chg="mod">
          <ac:chgData name="Virve Räni" userId="161a7437-7ef4-49ec-91bf-54882f313dfe" providerId="ADAL" clId="{6D754EED-65AA-4A21-B175-6769012CF487}" dt="2026-04-06T18:19:49.183" v="30" actId="20577"/>
          <ac:spMkLst>
            <pc:docMk/>
            <pc:sldMk cId="1137972440" sldId="641"/>
            <ac:spMk id="3" creationId="{9CC3A1CD-3F5D-D5BD-4A3E-F94218F8E9CB}"/>
          </ac:spMkLst>
        </pc:spChg>
      </pc:sldChg>
      <pc:sldChg chg="del">
        <pc:chgData name="Virve Räni" userId="161a7437-7ef4-49ec-91bf-54882f313dfe" providerId="ADAL" clId="{6D754EED-65AA-4A21-B175-6769012CF487}" dt="2026-04-06T18:19:56.734" v="31" actId="47"/>
        <pc:sldMkLst>
          <pc:docMk/>
          <pc:sldMk cId="3465804841" sldId="642"/>
        </pc:sldMkLst>
      </pc:sldChg>
      <pc:sldChg chg="ord">
        <pc:chgData name="Virve Räni" userId="161a7437-7ef4-49ec-91bf-54882f313dfe" providerId="ADAL" clId="{6D754EED-65AA-4A21-B175-6769012CF487}" dt="2026-04-06T18:20:40.392" v="74"/>
        <pc:sldMkLst>
          <pc:docMk/>
          <pc:sldMk cId="308433269" sldId="643"/>
        </pc:sldMkLst>
      </pc:sldChg>
      <pc:sldChg chg="modSp mod">
        <pc:chgData name="Virve Räni" userId="161a7437-7ef4-49ec-91bf-54882f313dfe" providerId="ADAL" clId="{6D754EED-65AA-4A21-B175-6769012CF487}" dt="2026-03-16T10:56:30.657" v="8" actId="20577"/>
        <pc:sldMkLst>
          <pc:docMk/>
          <pc:sldMk cId="2838608381" sldId="644"/>
        </pc:sldMkLst>
        <pc:spChg chg="mod">
          <ac:chgData name="Virve Räni" userId="161a7437-7ef4-49ec-91bf-54882f313dfe" providerId="ADAL" clId="{6D754EED-65AA-4A21-B175-6769012CF487}" dt="2026-03-16T10:56:30.657" v="8" actId="20577"/>
          <ac:spMkLst>
            <pc:docMk/>
            <pc:sldMk cId="2838608381" sldId="644"/>
            <ac:spMk id="5" creationId="{C8F9C816-F533-C6F6-6632-43FAF5E25536}"/>
          </ac:spMkLst>
        </pc:spChg>
      </pc:sldChg>
      <pc:sldChg chg="modSp new mod">
        <pc:chgData name="Virve Räni" userId="161a7437-7ef4-49ec-91bf-54882f313dfe" providerId="ADAL" clId="{6D754EED-65AA-4A21-B175-6769012CF487}" dt="2026-04-06T19:40:19.031" v="487" actId="255"/>
        <pc:sldMkLst>
          <pc:docMk/>
          <pc:sldMk cId="239317380" sldId="645"/>
        </pc:sldMkLst>
        <pc:spChg chg="mod">
          <ac:chgData name="Virve Räni" userId="161a7437-7ef4-49ec-91bf-54882f313dfe" providerId="ADAL" clId="{6D754EED-65AA-4A21-B175-6769012CF487}" dt="2026-04-06T19:40:19.031" v="487" actId="255"/>
          <ac:spMkLst>
            <pc:docMk/>
            <pc:sldMk cId="239317380" sldId="645"/>
            <ac:spMk id="2" creationId="{FE1193C7-7A5B-3160-EC42-93B70B0DAC4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06.04.2026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06.04.2026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docs/current/datatype.html" TargetMode="Externa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Inter"/>
              </a:rPr>
              <a:t>Virve </a:t>
            </a:r>
            <a:r>
              <a:rPr lang="en-US" err="1">
                <a:ea typeface="Inter"/>
              </a:rPr>
              <a:t>Räni</a:t>
            </a:r>
            <a:endParaRPr lang="en-US" err="1"/>
          </a:p>
          <a:p>
            <a:r>
              <a:rPr lang="en-US">
                <a:ea typeface="Inter"/>
              </a:rPr>
              <a:t>virve.rani@bcs.ee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372B-A5B8-260D-C940-47B5F56C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91BE-55D8-719B-FCEB-18D326A15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VI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5805DDA-288D-DB3E-2A59-EC7449C89D9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676927514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kohaliku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andmebaasi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üles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seadmine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DBeaveris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üles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laadimine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pärimine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Tabelite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ühendamine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Tabeli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loomine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uuendamine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SQL 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abil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91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DA9F0-A0F5-C46E-D262-05F5E5B7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E485-0C35-F9F2-525E-0BEE1F6277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PostgreSQL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1C2EC-E034-3DAF-EC3F-59EA67456D8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dirty="0">
                <a:ea typeface="+mn-lt"/>
                <a:cs typeface="+mn-lt"/>
                <a:hlinkClick r:id="rId2"/>
              </a:rPr>
              <a:t>https://www.postgresql.org/</a:t>
            </a:r>
            <a:endParaRPr lang="en-US" dirty="0"/>
          </a:p>
          <a:p>
            <a:pPr marL="285750" indent="-285750">
              <a:lnSpc>
                <a:spcPct val="150000"/>
              </a:lnSpc>
            </a:pPr>
            <a:r>
              <a:rPr lang="en-US" dirty="0" err="1">
                <a:ea typeface="Inter"/>
                <a:cs typeface="+mn-lt"/>
              </a:rPr>
              <a:t>Üks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populaarsemaid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andmebaasi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süsteeme</a:t>
            </a:r>
            <a:endParaRPr lang="en-US" dirty="0"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dirty="0">
                <a:ea typeface="Inter"/>
                <a:cs typeface="+mn-lt"/>
              </a:rPr>
              <a:t>Enda </a:t>
            </a:r>
            <a:r>
              <a:rPr lang="en-US" dirty="0" err="1">
                <a:ea typeface="Inter"/>
                <a:cs typeface="+mn-lt"/>
              </a:rPr>
              <a:t>arvutis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käivitamiseks</a:t>
            </a:r>
            <a:endParaRPr lang="en-US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r>
              <a:rPr lang="en-US" dirty="0">
                <a:ea typeface="Inter"/>
                <a:cs typeface="+mn-lt"/>
              </a:rPr>
              <a:t>Lae </a:t>
            </a:r>
            <a:r>
              <a:rPr lang="en-US" dirty="0" err="1">
                <a:ea typeface="Inter"/>
                <a:cs typeface="+mn-lt"/>
              </a:rPr>
              <a:t>alla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kodulehe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kaudu</a:t>
            </a:r>
            <a:endParaRPr lang="en-US" dirty="0">
              <a:ea typeface="Inter"/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r>
              <a:rPr lang="en-US" dirty="0">
                <a:ea typeface="Inter"/>
                <a:cs typeface="+mn-lt"/>
              </a:rPr>
              <a:t>Ava .exe fail</a:t>
            </a:r>
          </a:p>
          <a:p>
            <a:pPr marL="857250" lvl="1" indent="-342900">
              <a:lnSpc>
                <a:spcPct val="150000"/>
              </a:lnSpc>
              <a:buAutoNum type="arabicPeriod"/>
            </a:pPr>
            <a:r>
              <a:rPr lang="en-US" dirty="0" err="1">
                <a:ea typeface="Inter"/>
                <a:cs typeface="+mn-lt"/>
              </a:rPr>
              <a:t>Määra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salasõna</a:t>
            </a:r>
            <a:endParaRPr lang="en-US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r>
              <a:rPr lang="en-US" dirty="0">
                <a:ea typeface="Inter"/>
                <a:cs typeface="+mn-lt"/>
              </a:rPr>
              <a:t>Ava </a:t>
            </a:r>
            <a:r>
              <a:rPr lang="en-US" dirty="0" err="1">
                <a:ea typeface="Inter"/>
                <a:cs typeface="+mn-lt"/>
              </a:rPr>
              <a:t>pgAdmin</a:t>
            </a:r>
            <a:r>
              <a:rPr lang="en-US" dirty="0">
                <a:ea typeface="Inter"/>
                <a:cs typeface="+mn-lt"/>
              </a:rPr>
              <a:t> – </a:t>
            </a:r>
            <a:r>
              <a:rPr lang="en-US" dirty="0" err="1">
                <a:ea typeface="Inter"/>
                <a:cs typeface="+mn-lt"/>
              </a:rPr>
              <a:t>käivitab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andmebaasi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serveri</a:t>
            </a:r>
            <a:endParaRPr lang="en-US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r>
              <a:rPr lang="en-US" dirty="0">
                <a:ea typeface="Inter"/>
                <a:cs typeface="+mn-lt"/>
              </a:rPr>
              <a:t>Ava </a:t>
            </a:r>
            <a:r>
              <a:rPr lang="en-US" dirty="0" err="1">
                <a:ea typeface="Inter"/>
                <a:cs typeface="+mn-lt"/>
              </a:rPr>
              <a:t>DBeaver</a:t>
            </a:r>
            <a:r>
              <a:rPr lang="en-US" dirty="0">
                <a:ea typeface="Inter"/>
                <a:cs typeface="+mn-lt"/>
              </a:rPr>
              <a:t> ja </a:t>
            </a:r>
            <a:r>
              <a:rPr lang="en-US" dirty="0" err="1">
                <a:ea typeface="Inter"/>
                <a:cs typeface="+mn-lt"/>
              </a:rPr>
              <a:t>ühendu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serveriga</a:t>
            </a:r>
            <a:endParaRPr lang="en-US" dirty="0">
              <a:ea typeface="Inter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Wingdings"/>
              <a:buChar char="§"/>
            </a:pPr>
            <a:r>
              <a:rPr lang="en-US" dirty="0">
                <a:ea typeface="Inter"/>
                <a:cs typeface="+mn-lt"/>
              </a:rPr>
              <a:t>Database </a:t>
            </a:r>
            <a:r>
              <a:rPr lang="en-US" dirty="0">
                <a:ea typeface="Inter"/>
                <a:cs typeface="+mn-lt"/>
                <a:sym typeface="Wingdings" panose="05000000000000000000" pitchFamily="2" charset="2"/>
              </a:rPr>
              <a:t> New database connection</a:t>
            </a:r>
            <a:endParaRPr lang="en-US" dirty="0">
              <a:ea typeface="Inter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Wingdings"/>
              <a:buChar char="§"/>
            </a:pPr>
            <a:r>
              <a:rPr lang="en-US" dirty="0">
                <a:ea typeface="Inter"/>
                <a:cs typeface="+mn-lt"/>
              </a:rPr>
              <a:t>Vali PostgreSQL</a:t>
            </a:r>
          </a:p>
          <a:p>
            <a:pPr marL="1257300" lvl="2" indent="-342900">
              <a:lnSpc>
                <a:spcPct val="150000"/>
              </a:lnSpc>
              <a:buFont typeface="Wingdings"/>
              <a:buChar char="§"/>
            </a:pPr>
            <a:r>
              <a:rPr lang="en-US" dirty="0">
                <a:ea typeface="Inter"/>
                <a:cs typeface="+mn-lt"/>
              </a:rPr>
              <a:t>Database: </a:t>
            </a:r>
            <a:r>
              <a:rPr lang="en-US" dirty="0" err="1">
                <a:ea typeface="Inter"/>
                <a:cs typeface="+mn-lt"/>
              </a:rPr>
              <a:t>kliki</a:t>
            </a:r>
            <a:r>
              <a:rPr lang="en-US" dirty="0">
                <a:ea typeface="Inter"/>
                <a:cs typeface="+mn-lt"/>
              </a:rPr>
              <a:t> “Show all databases”</a:t>
            </a:r>
            <a:endParaRPr lang="en-US" dirty="0"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Wingdings"/>
              <a:buChar char="§"/>
            </a:pPr>
            <a:r>
              <a:rPr lang="en-US" dirty="0" err="1">
                <a:ea typeface="Inter"/>
                <a:cs typeface="+mn-lt"/>
              </a:rPr>
              <a:t>Sisesta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parool</a:t>
            </a:r>
            <a:endParaRPr lang="en-US" dirty="0"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Wingdings"/>
              <a:buChar char="§"/>
            </a:pPr>
            <a:r>
              <a:rPr lang="en-US" dirty="0">
                <a:ea typeface="Inter"/>
                <a:cs typeface="+mn-lt"/>
              </a:rPr>
              <a:t>Test connection, </a:t>
            </a:r>
            <a:r>
              <a:rPr lang="en-US" dirty="0" err="1">
                <a:ea typeface="Inter"/>
                <a:cs typeface="+mn-lt"/>
              </a:rPr>
              <a:t>vajadusel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installi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draiverid</a:t>
            </a:r>
            <a:endParaRPr lang="en-US" dirty="0"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Wingdings"/>
              <a:buChar char="§"/>
            </a:pPr>
            <a:endParaRPr lang="en-US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0" indent="0"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7446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6CDB2-9145-1517-74B9-1D85A1A094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PostgreSQL </a:t>
            </a:r>
            <a:r>
              <a:rPr lang="en-US" dirty="0" err="1"/>
              <a:t>baasi</a:t>
            </a:r>
            <a:r>
              <a:rPr lang="en-US" dirty="0"/>
              <a:t> </a:t>
            </a:r>
            <a:r>
              <a:rPr lang="en-US" dirty="0" err="1"/>
              <a:t>nimetamispraktikad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3FFA0-927B-E444-49B4-38B1CC7C83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/>
              <a:t>Tabelite</a:t>
            </a:r>
            <a:r>
              <a:rPr lang="en-US" sz="2400" dirty="0"/>
              <a:t> ja </a:t>
            </a:r>
            <a:r>
              <a:rPr lang="en-US" sz="2400" dirty="0" err="1"/>
              <a:t>tulpade</a:t>
            </a:r>
            <a:r>
              <a:rPr lang="en-US" sz="2400" dirty="0"/>
              <a:t> </a:t>
            </a:r>
            <a:r>
              <a:rPr lang="en-US" sz="2400" dirty="0" err="1"/>
              <a:t>nimed</a:t>
            </a:r>
            <a:r>
              <a:rPr lang="en-US" sz="2400" dirty="0"/>
              <a:t>: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Parim </a:t>
            </a:r>
            <a:r>
              <a:rPr lang="en-US" sz="2400" dirty="0" err="1"/>
              <a:t>praktika</a:t>
            </a:r>
            <a:r>
              <a:rPr lang="en-US" sz="2400" dirty="0"/>
              <a:t>: </a:t>
            </a:r>
            <a:r>
              <a:rPr lang="et-EE" sz="2400" b="1" dirty="0" err="1"/>
              <a:t>lowercase_with_underscores</a:t>
            </a:r>
            <a:r>
              <a:rPr lang="et-EE" sz="2400" dirty="0"/>
              <a:t> 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 err="1"/>
              <a:t>Nt</a:t>
            </a:r>
            <a:r>
              <a:rPr lang="en-US" sz="2400" dirty="0"/>
              <a:t> </a:t>
            </a:r>
            <a:r>
              <a:rPr lang="en-US" sz="2400" dirty="0" err="1"/>
              <a:t>tabeli</a:t>
            </a:r>
            <a:r>
              <a:rPr lang="en-US" sz="2400" dirty="0"/>
              <a:t> </a:t>
            </a:r>
            <a:r>
              <a:rPr lang="en-US" sz="2400" dirty="0" err="1"/>
              <a:t>nimed</a:t>
            </a:r>
            <a:r>
              <a:rPr lang="en-US" sz="2400" dirty="0"/>
              <a:t>: </a:t>
            </a:r>
            <a:r>
              <a:rPr lang="en-US" sz="2400" dirty="0" err="1"/>
              <a:t>sales_table</a:t>
            </a:r>
            <a:r>
              <a:rPr lang="en-US" sz="2400" dirty="0"/>
              <a:t>, </a:t>
            </a:r>
            <a:r>
              <a:rPr lang="en-US" sz="2400" dirty="0" err="1"/>
              <a:t>customer_table</a:t>
            </a:r>
            <a:r>
              <a:rPr lang="en-US" sz="2400" dirty="0"/>
              <a:t>, </a:t>
            </a:r>
            <a:r>
              <a:rPr lang="en-US" sz="2400" dirty="0" err="1"/>
              <a:t>date_table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 err="1"/>
              <a:t>Nt</a:t>
            </a:r>
            <a:r>
              <a:rPr lang="en-US" sz="2400" dirty="0"/>
              <a:t> </a:t>
            </a:r>
            <a:r>
              <a:rPr lang="en-US" sz="2400" dirty="0" err="1"/>
              <a:t>tulpade</a:t>
            </a:r>
            <a:r>
              <a:rPr lang="en-US" sz="2400" dirty="0"/>
              <a:t> </a:t>
            </a:r>
            <a:r>
              <a:rPr lang="en-US" sz="2400" dirty="0" err="1"/>
              <a:t>nimed</a:t>
            </a:r>
            <a:r>
              <a:rPr lang="en-US" sz="2400" dirty="0"/>
              <a:t>: </a:t>
            </a:r>
            <a:r>
              <a:rPr lang="en-US" sz="2400" dirty="0" err="1"/>
              <a:t>sale_id</a:t>
            </a:r>
            <a:r>
              <a:rPr lang="en-US" sz="2400" dirty="0"/>
              <a:t>, </a:t>
            </a:r>
            <a:r>
              <a:rPr lang="en-US" sz="2400" dirty="0" err="1"/>
              <a:t>customer_id</a:t>
            </a:r>
            <a:r>
              <a:rPr lang="en-US" sz="2400" dirty="0"/>
              <a:t>, </a:t>
            </a:r>
            <a:r>
              <a:rPr lang="en-US" sz="2400" dirty="0" err="1"/>
              <a:t>unit_price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Kui on </a:t>
            </a:r>
            <a:r>
              <a:rPr lang="en-US" sz="2400" dirty="0" err="1"/>
              <a:t>suurtähed</a:t>
            </a:r>
            <a:r>
              <a:rPr lang="en-US" sz="2400" dirty="0"/>
              <a:t> </a:t>
            </a:r>
            <a:r>
              <a:rPr lang="en-US" sz="2400" dirty="0" err="1"/>
              <a:t>või</a:t>
            </a:r>
            <a:r>
              <a:rPr lang="en-US" sz="2400" dirty="0"/>
              <a:t> </a:t>
            </a:r>
            <a:r>
              <a:rPr lang="en-US" sz="2400" dirty="0" err="1"/>
              <a:t>väike</a:t>
            </a:r>
            <a:r>
              <a:rPr lang="en-US" sz="2400" dirty="0"/>
              <a:t>-ja </a:t>
            </a:r>
            <a:r>
              <a:rPr lang="en-US" sz="2400" dirty="0" err="1"/>
              <a:t>suurtähed</a:t>
            </a:r>
            <a:r>
              <a:rPr lang="en-US" sz="2400" dirty="0"/>
              <a:t> </a:t>
            </a:r>
            <a:r>
              <a:rPr lang="en-US" sz="2400" dirty="0" err="1"/>
              <a:t>segamini</a:t>
            </a:r>
            <a:r>
              <a:rPr lang="en-US" sz="2400" dirty="0"/>
              <a:t>, </a:t>
            </a:r>
            <a:r>
              <a:rPr lang="en-US" sz="2400" dirty="0" err="1"/>
              <a:t>siis</a:t>
            </a:r>
            <a:r>
              <a:rPr lang="en-US" sz="2400" dirty="0"/>
              <a:t> </a:t>
            </a:r>
            <a:r>
              <a:rPr lang="en-US" sz="2400" dirty="0" err="1"/>
              <a:t>tulevad</a:t>
            </a:r>
            <a:r>
              <a:rPr lang="en-US" sz="2400" dirty="0"/>
              <a:t> </a:t>
            </a:r>
            <a:r>
              <a:rPr lang="en-US" sz="2400" dirty="0" err="1"/>
              <a:t>ümber</a:t>
            </a:r>
            <a:r>
              <a:rPr lang="en-US" sz="2400" dirty="0"/>
              <a:t> </a:t>
            </a:r>
            <a:r>
              <a:rPr lang="en-US" sz="2400" dirty="0" err="1"/>
              <a:t>jutumärgid</a:t>
            </a:r>
            <a:endParaRPr lang="et-EE" sz="2400" dirty="0"/>
          </a:p>
        </p:txBody>
      </p:sp>
    </p:spTree>
    <p:extLst>
      <p:ext uri="{BB962C8B-B14F-4D97-AF65-F5344CB8AC3E}">
        <p14:creationId xmlns:p14="http://schemas.microsoft.com/office/powerpoint/2010/main" val="308433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B82FD-643F-6AFD-B782-B19E179EA8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Põhilised</a:t>
            </a:r>
            <a:r>
              <a:rPr lang="en-US" dirty="0"/>
              <a:t> </a:t>
            </a:r>
            <a:r>
              <a:rPr lang="en-US" dirty="0" err="1"/>
              <a:t>andmetüübid</a:t>
            </a:r>
            <a:r>
              <a:rPr lang="en-US" dirty="0"/>
              <a:t> PostgreSQL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5113B-F938-FA92-45B7-A088D0CA45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INT - </a:t>
            </a:r>
            <a:r>
              <a:rPr lang="en-US" sz="2400" dirty="0" err="1">
                <a:ea typeface="Inter"/>
              </a:rPr>
              <a:t>täisnumber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>
                <a:ea typeface="Inter"/>
              </a:rPr>
              <a:t>NUMERIC (x, y) - </a:t>
            </a:r>
            <a:r>
              <a:rPr lang="en-US" sz="2400" dirty="0" err="1">
                <a:ea typeface="Inter"/>
              </a:rPr>
              <a:t>komakohtadega</a:t>
            </a:r>
            <a:r>
              <a:rPr lang="en-US" sz="2400" dirty="0">
                <a:ea typeface="Inter"/>
              </a:rPr>
              <a:t> number, </a:t>
            </a:r>
            <a:r>
              <a:rPr lang="en-US" sz="2400" dirty="0" err="1">
                <a:ea typeface="Inter"/>
              </a:rPr>
              <a:t>kus</a:t>
            </a:r>
            <a:r>
              <a:rPr lang="en-US" sz="2400" dirty="0">
                <a:ea typeface="Inter"/>
              </a:rPr>
              <a:t> x </a:t>
            </a:r>
            <a:r>
              <a:rPr lang="en-US" sz="2400" dirty="0" err="1">
                <a:ea typeface="Inter"/>
              </a:rPr>
              <a:t>täpsustab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tulba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pikkuse</a:t>
            </a:r>
            <a:r>
              <a:rPr lang="en-US" sz="2400" dirty="0">
                <a:ea typeface="Inter"/>
              </a:rPr>
              <a:t> ja y </a:t>
            </a:r>
            <a:r>
              <a:rPr lang="en-US" sz="2400" dirty="0" err="1">
                <a:ea typeface="Inter"/>
              </a:rPr>
              <a:t>komakohtade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arvu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nt</a:t>
            </a:r>
            <a:r>
              <a:rPr lang="en-US" sz="2400" dirty="0">
                <a:ea typeface="Inter"/>
              </a:rPr>
              <a:t> 100,55 </a:t>
            </a:r>
            <a:r>
              <a:rPr lang="en-US" sz="2400" dirty="0" err="1">
                <a:ea typeface="Inter"/>
              </a:rPr>
              <a:t>oleks</a:t>
            </a:r>
            <a:r>
              <a:rPr lang="en-US" sz="2400" dirty="0">
                <a:ea typeface="Inter"/>
              </a:rPr>
              <a:t> NUMERIC(5,2)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TEXT – </a:t>
            </a:r>
            <a:r>
              <a:rPr lang="en-US" sz="2400" dirty="0" err="1">
                <a:ea typeface="Inter"/>
              </a:rPr>
              <a:t>pikkuse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piiranguteta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tekstiväli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VARCHAR (n) - </a:t>
            </a:r>
            <a:r>
              <a:rPr lang="en-US" sz="2400" dirty="0" err="1">
                <a:ea typeface="Inter"/>
              </a:rPr>
              <a:t>pikkuse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piiranguga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tekstiväli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kus</a:t>
            </a:r>
            <a:r>
              <a:rPr lang="en-US" sz="2400" dirty="0">
                <a:ea typeface="Inter"/>
              </a:rPr>
              <a:t> n </a:t>
            </a:r>
            <a:r>
              <a:rPr lang="en-US" sz="2400" dirty="0" err="1">
                <a:ea typeface="Inter"/>
              </a:rPr>
              <a:t>tähistab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välja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pikkust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BOOLEAN – </a:t>
            </a:r>
            <a:r>
              <a:rPr lang="en-US" sz="2400" dirty="0" err="1">
                <a:ea typeface="Inter"/>
              </a:rPr>
              <a:t>kahe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väärtusega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väli</a:t>
            </a:r>
            <a:r>
              <a:rPr lang="en-US" sz="2400" dirty="0">
                <a:ea typeface="Inter"/>
              </a:rPr>
              <a:t>, TRUE, FALSE ja </a:t>
            </a:r>
            <a:r>
              <a:rPr lang="en-US" sz="2400" dirty="0" err="1">
                <a:ea typeface="Inter"/>
              </a:rPr>
              <a:t>tühiväärtus</a:t>
            </a:r>
            <a:r>
              <a:rPr lang="en-US" sz="2400" dirty="0">
                <a:ea typeface="Inter"/>
              </a:rPr>
              <a:t> (NULL)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DATE - </a:t>
            </a:r>
            <a:r>
              <a:rPr lang="en-US" sz="2400" dirty="0" err="1">
                <a:ea typeface="Inter"/>
              </a:rPr>
              <a:t>kuupäev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TIMESTAMP - </a:t>
            </a:r>
            <a:r>
              <a:rPr lang="en-US" sz="2400" dirty="0" err="1">
                <a:ea typeface="Inter"/>
              </a:rPr>
              <a:t>kuupäev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kellaajaga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Dokumentatsioon</a:t>
            </a:r>
            <a:r>
              <a:rPr lang="en-US" sz="2400" dirty="0">
                <a:ea typeface="Inter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ea typeface="Inter"/>
                <a:hlinkClick r:id="rId2"/>
              </a:rPr>
              <a:t>https://www.postgresql.org/docs/current/datatype.html</a:t>
            </a:r>
            <a:r>
              <a:rPr lang="en-US" sz="2400" dirty="0">
                <a:ea typeface="Inter"/>
              </a:rPr>
              <a:t>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3806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CD66-B432-CE0D-D666-FC12193A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2C1C5-CFE2-C4AB-8934-6B183158AE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DBeaver</a:t>
            </a:r>
            <a:r>
              <a:rPr lang="en-US"/>
              <a:t> – </a:t>
            </a:r>
            <a:r>
              <a:rPr lang="en-US" err="1"/>
              <a:t>andmete</a:t>
            </a:r>
            <a:r>
              <a:rPr lang="en-US"/>
              <a:t> </a:t>
            </a:r>
            <a:r>
              <a:rPr lang="en-US" err="1"/>
              <a:t>lisamine</a:t>
            </a:r>
            <a:r>
              <a:rPr lang="en-US"/>
              <a:t> </a:t>
            </a:r>
            <a:r>
              <a:rPr lang="en-US" err="1"/>
              <a:t>andmebaasi</a:t>
            </a:r>
            <a:r>
              <a:rPr lang="en-US"/>
              <a:t> UI </a:t>
            </a:r>
            <a:r>
              <a:rPr lang="en-US" err="1"/>
              <a:t>kaudu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EFDB5F-311B-A003-161F-6FE2F574F60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000" dirty="0">
                <a:ea typeface="+mn-lt"/>
                <a:cs typeface="+mn-lt"/>
              </a:rPr>
              <a:t>Saab </a:t>
            </a:r>
            <a:r>
              <a:rPr lang="en-US" sz="2000" dirty="0" err="1">
                <a:ea typeface="+mn-lt"/>
                <a:cs typeface="+mn-lt"/>
              </a:rPr>
              <a:t>luua</a:t>
            </a:r>
            <a:r>
              <a:rPr lang="en-US" sz="2000" dirty="0">
                <a:ea typeface="+mn-lt"/>
                <a:cs typeface="+mn-lt"/>
              </a:rPr>
              <a:t> SQL </a:t>
            </a:r>
            <a:r>
              <a:rPr lang="en-US" sz="2000" dirty="0" err="1">
                <a:ea typeface="+mn-lt"/>
                <a:cs typeface="+mn-lt"/>
              </a:rPr>
              <a:t>koodi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abil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tabeleid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või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üles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laadida</a:t>
            </a:r>
            <a:r>
              <a:rPr lang="en-US" sz="2000" dirty="0">
                <a:ea typeface="+mn-lt"/>
                <a:cs typeface="+mn-lt"/>
              </a:rPr>
              <a:t> CSV </a:t>
            </a:r>
            <a:r>
              <a:rPr lang="en-US" sz="2000" dirty="0" err="1">
                <a:ea typeface="+mn-lt"/>
                <a:cs typeface="+mn-lt"/>
              </a:rPr>
              <a:t>faile</a:t>
            </a:r>
            <a:endParaRPr lang="en-US" sz="2000" dirty="0">
              <a:ea typeface="+mn-lt"/>
              <a:cs typeface="+mn-lt"/>
            </a:endParaRPr>
          </a:p>
          <a:p>
            <a:pPr marL="800100" lvl="1">
              <a:lnSpc>
                <a:spcPct val="150000"/>
              </a:lnSpc>
            </a:pPr>
            <a:r>
              <a:rPr lang="en-US" sz="2000" dirty="0" err="1">
                <a:ea typeface="+mn-lt"/>
                <a:cs typeface="+mn-lt"/>
              </a:rPr>
              <a:t>Laeme</a:t>
            </a:r>
            <a:r>
              <a:rPr lang="en-US" sz="2000" dirty="0">
                <a:ea typeface="+mn-lt"/>
                <a:cs typeface="+mn-lt"/>
              </a:rPr>
              <a:t> alla Day6 </a:t>
            </a:r>
            <a:r>
              <a:rPr lang="en-US" sz="2000" dirty="0" err="1">
                <a:ea typeface="+mn-lt"/>
                <a:cs typeface="+mn-lt"/>
              </a:rPr>
              <a:t>andmeallikad</a:t>
            </a:r>
            <a:r>
              <a:rPr lang="en-US" sz="2000" dirty="0">
                <a:ea typeface="+mn-lt"/>
                <a:cs typeface="+mn-lt"/>
              </a:rPr>
              <a:t>: </a:t>
            </a:r>
            <a:r>
              <a:rPr lang="en-US" sz="2000" dirty="0" err="1">
                <a:ea typeface="+mn-lt"/>
                <a:cs typeface="+mn-lt"/>
              </a:rPr>
              <a:t>sales_table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sales_rep_table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budget_table</a:t>
            </a:r>
            <a:endParaRPr lang="en-US" sz="2000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2000" dirty="0" err="1">
                <a:ea typeface="+mn-lt"/>
                <a:cs typeface="+mn-lt"/>
              </a:rPr>
              <a:t>Esiteks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loome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andmebaasi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>
                <a:ea typeface="Inter"/>
                <a:cs typeface="+mn-lt"/>
              </a:rPr>
              <a:t>"</a:t>
            </a:r>
            <a:r>
              <a:rPr lang="en-US" sz="2000" dirty="0" err="1">
                <a:ea typeface="Inter"/>
                <a:cs typeface="+mn-lt"/>
              </a:rPr>
              <a:t>salesdb</a:t>
            </a:r>
            <a:r>
              <a:rPr lang="en-US" sz="2000" dirty="0">
                <a:ea typeface="Inter"/>
                <a:cs typeface="+mn-lt"/>
              </a:rPr>
              <a:t>“: Databases </a:t>
            </a:r>
            <a:r>
              <a:rPr lang="en-US" sz="2000" dirty="0" err="1">
                <a:ea typeface="Inter"/>
                <a:cs typeface="+mn-lt"/>
              </a:rPr>
              <a:t>parem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klõps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 Create new database </a:t>
            </a:r>
            <a:endParaRPr lang="en-US" sz="2000" dirty="0">
              <a:ea typeface="Inter"/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2000" dirty="0" err="1">
                <a:cs typeface="+mn-lt"/>
              </a:rPr>
              <a:t>Teiseks</a:t>
            </a:r>
            <a:r>
              <a:rPr lang="en-US" sz="2000" dirty="0">
                <a:cs typeface="+mn-lt"/>
              </a:rPr>
              <a:t> </a:t>
            </a:r>
            <a:r>
              <a:rPr lang="en-US" sz="2000" dirty="0" err="1">
                <a:cs typeface="+mn-lt"/>
              </a:rPr>
              <a:t>loome</a:t>
            </a:r>
            <a:r>
              <a:rPr lang="en-US" sz="2000" dirty="0">
                <a:cs typeface="+mn-lt"/>
              </a:rPr>
              <a:t> </a:t>
            </a:r>
            <a:r>
              <a:rPr lang="en-US" sz="2000" dirty="0" err="1">
                <a:cs typeface="+mn-lt"/>
              </a:rPr>
              <a:t>skeemi</a:t>
            </a:r>
            <a:r>
              <a:rPr lang="en-US" sz="2000" dirty="0">
                <a:cs typeface="+mn-lt"/>
              </a:rPr>
              <a:t> “sales”</a:t>
            </a:r>
            <a:r>
              <a:rPr lang="en-US" sz="2000" dirty="0">
                <a:ea typeface="Inter"/>
                <a:cs typeface="+mn-lt"/>
              </a:rPr>
              <a:t>: Ava </a:t>
            </a:r>
            <a:r>
              <a:rPr lang="en-US" sz="2000" dirty="0" err="1">
                <a:ea typeface="Inter"/>
                <a:cs typeface="+mn-lt"/>
              </a:rPr>
              <a:t>salesdb</a:t>
            </a:r>
            <a:r>
              <a:rPr lang="en-US" sz="2000" dirty="0">
                <a:ea typeface="Inter"/>
                <a:cs typeface="+mn-lt"/>
              </a:rPr>
              <a:t> Schemas </a:t>
            </a:r>
            <a:r>
              <a:rPr lang="en-US" sz="2000" dirty="0" err="1">
                <a:ea typeface="Inter"/>
                <a:cs typeface="+mn-lt"/>
              </a:rPr>
              <a:t>parem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klõps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 Create new schema</a:t>
            </a: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ea typeface="Inter"/>
                <a:cs typeface="+mn-lt"/>
              </a:rPr>
              <a:t>Laeme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üles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sales_table</a:t>
            </a:r>
            <a:r>
              <a:rPr lang="en-US" sz="2000" dirty="0">
                <a:ea typeface="Inter"/>
                <a:cs typeface="+mn-lt"/>
              </a:rPr>
              <a:t> CSV </a:t>
            </a:r>
            <a:r>
              <a:rPr lang="en-US" sz="2000" dirty="0" err="1">
                <a:ea typeface="Inter"/>
                <a:cs typeface="+mn-lt"/>
              </a:rPr>
              <a:t>faili</a:t>
            </a:r>
            <a:endParaRPr lang="en-US" sz="2000" dirty="0">
              <a:ea typeface="Inter"/>
              <a:cs typeface="+mn-lt"/>
            </a:endParaRPr>
          </a:p>
          <a:p>
            <a:pPr marL="800100" lvl="1">
              <a:lnSpc>
                <a:spcPct val="150000"/>
              </a:lnSpc>
              <a:buAutoNum type="arabicPeriod"/>
            </a:pPr>
            <a:r>
              <a:rPr lang="en-US" sz="2000" dirty="0" err="1">
                <a:ea typeface="Inter"/>
                <a:cs typeface="+mn-lt"/>
              </a:rPr>
              <a:t>Skeemi</a:t>
            </a:r>
            <a:r>
              <a:rPr lang="en-US" sz="2000" dirty="0">
                <a:ea typeface="Inter"/>
                <a:cs typeface="+mn-lt"/>
              </a:rPr>
              <a:t> peal </a:t>
            </a:r>
            <a:r>
              <a:rPr lang="en-US" sz="2000" dirty="0" err="1">
                <a:ea typeface="Inter"/>
                <a:cs typeface="+mn-lt"/>
              </a:rPr>
              <a:t>parem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klõps</a:t>
            </a:r>
            <a:r>
              <a:rPr lang="en-US" sz="2000" dirty="0">
                <a:ea typeface="Inter"/>
                <a:cs typeface="+mn-lt"/>
              </a:rPr>
              <a:t> ja "Import Data"</a:t>
            </a:r>
            <a:endParaRPr lang="en-US" sz="2000" dirty="0">
              <a:cs typeface="+mn-lt"/>
            </a:endParaRPr>
          </a:p>
          <a:p>
            <a:pPr marL="12001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 err="1">
                <a:ea typeface="Inter"/>
                <a:cs typeface="+mn-lt"/>
              </a:rPr>
              <a:t>Valime</a:t>
            </a:r>
            <a:r>
              <a:rPr lang="en-US" sz="2000" dirty="0">
                <a:ea typeface="Inter"/>
                <a:cs typeface="+mn-lt"/>
              </a:rPr>
              <a:t> “sales_table.csv”</a:t>
            </a:r>
            <a:endParaRPr lang="en-US" sz="2000" dirty="0">
              <a:cs typeface="+mn-lt"/>
            </a:endParaRPr>
          </a:p>
          <a:p>
            <a:pPr marL="12001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 err="1">
                <a:ea typeface="Inter"/>
                <a:cs typeface="+mn-lt"/>
              </a:rPr>
              <a:t>Võimalik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andmeid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vaadata</a:t>
            </a:r>
            <a:r>
              <a:rPr lang="en-US" sz="2000" dirty="0">
                <a:ea typeface="Inter"/>
                <a:cs typeface="+mn-lt"/>
              </a:rPr>
              <a:t> - "Preview Data"</a:t>
            </a:r>
            <a:endParaRPr lang="en-US" sz="2000" dirty="0">
              <a:cs typeface="+mn-lt"/>
            </a:endParaRPr>
          </a:p>
          <a:p>
            <a:pPr marL="12001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 err="1">
                <a:ea typeface="Inter"/>
                <a:cs typeface="+mn-lt"/>
              </a:rPr>
              <a:t>Võimalik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vormistust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muuta</a:t>
            </a:r>
            <a:r>
              <a:rPr lang="en-US" sz="2000" dirty="0">
                <a:ea typeface="Inter"/>
                <a:cs typeface="+mn-lt"/>
              </a:rPr>
              <a:t> - "Configure Data“</a:t>
            </a:r>
          </a:p>
          <a:p>
            <a:pPr marL="1657350" lvl="3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 err="1">
                <a:ea typeface="Inter"/>
                <a:cs typeface="+mn-lt"/>
              </a:rPr>
              <a:t>Muudame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tüübid</a:t>
            </a:r>
            <a:endParaRPr lang="en-US" sz="2000" dirty="0">
              <a:ea typeface="Inter"/>
              <a:cs typeface="+mn-lt"/>
            </a:endParaRPr>
          </a:p>
          <a:p>
            <a:pPr marL="285750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</a:rPr>
              <a:t>Laeme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samamoodi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üles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budget_table</a:t>
            </a:r>
            <a:r>
              <a:rPr lang="en-US" sz="2000" dirty="0">
                <a:ea typeface="Inter"/>
                <a:cs typeface="+mn-lt"/>
              </a:rPr>
              <a:t> ja </a:t>
            </a:r>
            <a:r>
              <a:rPr lang="en-US" sz="2000" dirty="0" err="1">
                <a:ea typeface="Inter"/>
                <a:cs typeface="+mn-lt"/>
              </a:rPr>
              <a:t>sales_rep_table</a:t>
            </a:r>
            <a:endParaRPr lang="en-US" sz="2000" dirty="0">
              <a:ea typeface="Inter"/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solidFill>
                <a:srgbClr val="121212"/>
              </a:solidFill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0" indent="0">
              <a:buClr>
                <a:srgbClr val="121212"/>
              </a:buClr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143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E57D-0698-A888-A781-B5BA4506C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E8A2B-41F3-0AD3-D3F7-DF4AC897F52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4C1C95-F9A5-B2F3-AAC1-345A2C396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215648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68293-66B4-9531-CEB8-1310D457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379B-8B4D-351D-FB50-463F724415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</a:t>
            </a:r>
            <a:r>
              <a:rPr lang="en-US" err="1"/>
              <a:t>tabelite</a:t>
            </a:r>
            <a:r>
              <a:rPr lang="en-US"/>
              <a:t> </a:t>
            </a:r>
            <a:r>
              <a:rPr lang="en-US" err="1"/>
              <a:t>ühendamine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CD786AF0-AFD6-3E5D-F34D-476B12CA5EE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105773" y="978462"/>
            <a:ext cx="3946694" cy="51299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C3A1CD-3F5D-D5BD-4A3E-F94218F8E9CB}"/>
              </a:ext>
            </a:extLst>
          </p:cNvPr>
          <p:cNvSpPr txBox="1"/>
          <p:nvPr/>
        </p:nvSpPr>
        <p:spPr>
          <a:xfrm>
            <a:off x="6007608" y="1444752"/>
            <a:ext cx="5742432" cy="874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Vaatame</a:t>
            </a:r>
            <a:r>
              <a:rPr lang="en-US" dirty="0"/>
              <a:t> </a:t>
            </a:r>
            <a:r>
              <a:rPr lang="en-US" dirty="0" err="1"/>
              <a:t>loogikat</a:t>
            </a:r>
            <a:r>
              <a:rPr lang="en-US" dirty="0"/>
              <a:t> </a:t>
            </a:r>
            <a:r>
              <a:rPr lang="en-US" dirty="0" err="1"/>
              <a:t>näite</a:t>
            </a:r>
            <a:r>
              <a:rPr lang="en-US" dirty="0"/>
              <a:t> </a:t>
            </a:r>
            <a:r>
              <a:rPr lang="en-US" dirty="0" err="1"/>
              <a:t>põhjal</a:t>
            </a:r>
            <a:r>
              <a:rPr lang="en-US" dirty="0"/>
              <a:t>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Day6: JOINS_loogika.XLSX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3797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12F7D-0F32-EA88-B041-16143FEB8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BBAC-BC5C-05AA-FECD-7B67692095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DBeaver</a:t>
            </a:r>
            <a:r>
              <a:rPr lang="en-US" dirty="0"/>
              <a:t> – </a:t>
            </a:r>
            <a:r>
              <a:rPr lang="en-US" dirty="0" err="1"/>
              <a:t>tabelite</a:t>
            </a:r>
            <a:r>
              <a:rPr lang="en-US" dirty="0"/>
              <a:t> </a:t>
            </a:r>
            <a:r>
              <a:rPr lang="en-US" dirty="0" err="1"/>
              <a:t>ühendamine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F9C816-F533-C6F6-6632-43FAF5E255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400" dirty="0" err="1">
                <a:ea typeface="Inter"/>
                <a:cs typeface="+mn-lt"/>
              </a:rPr>
              <a:t>Lahendame</a:t>
            </a:r>
            <a:r>
              <a:rPr lang="en-US" sz="2400" dirty="0">
                <a:ea typeface="Inter"/>
                <a:cs typeface="+mn-lt"/>
              </a:rPr>
              <a:t>: Day6 </a:t>
            </a:r>
            <a:r>
              <a:rPr lang="en-US" sz="2400" dirty="0">
                <a:ea typeface="Inter"/>
                <a:cs typeface="+mn-lt"/>
                <a:sym typeface="Wingdings" panose="05000000000000000000" pitchFamily="2" charset="2"/>
              </a:rPr>
              <a:t> </a:t>
            </a:r>
            <a:r>
              <a:rPr lang="en-US" sz="2400" dirty="0">
                <a:ea typeface="Inter"/>
                <a:cs typeface="+mn-lt"/>
              </a:rPr>
              <a:t>sql_ulesanded_5.txt</a:t>
            </a: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solidFill>
                <a:srgbClr val="121212"/>
              </a:solidFill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0" indent="0">
              <a:buClr>
                <a:srgbClr val="121212"/>
              </a:buClr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8608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7CCB3-B259-3DCD-0027-751990971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BBB6-15C6-757A-20FC-DF1337597F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E3282D-2EB8-4929-1315-48292A4A9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2250246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193C7-7A5B-3160-EC42-93B70B0DAC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dirty="0" err="1"/>
              <a:t>Dbeaver</a:t>
            </a:r>
            <a:r>
              <a:rPr lang="en-US" sz="2400" dirty="0"/>
              <a:t> – </a:t>
            </a:r>
            <a:r>
              <a:rPr lang="en-US" sz="2400" dirty="0" err="1"/>
              <a:t>andmete</a:t>
            </a:r>
            <a:r>
              <a:rPr lang="en-US" sz="2400" dirty="0"/>
              <a:t> </a:t>
            </a:r>
            <a:r>
              <a:rPr lang="en-US" sz="2400" dirty="0" err="1"/>
              <a:t>ühendamine</a:t>
            </a:r>
            <a:r>
              <a:rPr lang="en-US" sz="2400" dirty="0"/>
              <a:t> – </a:t>
            </a:r>
            <a:r>
              <a:rPr lang="en-US" sz="2400" dirty="0" err="1"/>
              <a:t>vaatame</a:t>
            </a:r>
            <a:r>
              <a:rPr lang="en-US" sz="2400" dirty="0"/>
              <a:t> </a:t>
            </a:r>
            <a:r>
              <a:rPr lang="en-US" sz="2400" dirty="0" err="1"/>
              <a:t>lahendused</a:t>
            </a:r>
            <a:r>
              <a:rPr lang="en-US" sz="2400" dirty="0"/>
              <a:t> </a:t>
            </a:r>
            <a:r>
              <a:rPr lang="en-US" sz="2400" dirty="0" err="1"/>
              <a:t>üle</a:t>
            </a:r>
            <a:endParaRPr lang="et-EE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3417E-5909-8D66-EE8F-A63F18106F0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39317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CBF13-0577-C954-E859-4485C0A7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39D38-56B4-329D-1362-22E4CB980D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74B9BA-4701-AF0C-7FCF-4AAD3F3B4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4120372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CAB85-ABDF-A4AE-95F6-18C60EA2F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164C5-FDD9-B59E-7AE1-995A6BC4E0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DBeaver</a:t>
            </a:r>
            <a:r>
              <a:rPr lang="en-US"/>
              <a:t> – </a:t>
            </a:r>
            <a:r>
              <a:rPr lang="en-US" err="1"/>
              <a:t>andmete</a:t>
            </a:r>
            <a:r>
              <a:rPr lang="en-US"/>
              <a:t> </a:t>
            </a:r>
            <a:r>
              <a:rPr lang="en-US" err="1"/>
              <a:t>lisamine</a:t>
            </a:r>
            <a:r>
              <a:rPr lang="en-US"/>
              <a:t> </a:t>
            </a:r>
            <a:r>
              <a:rPr lang="en-US" err="1"/>
              <a:t>andmebaasi</a:t>
            </a:r>
            <a:r>
              <a:rPr lang="en-US"/>
              <a:t> SQL </a:t>
            </a:r>
            <a:r>
              <a:rPr lang="en-US" err="1"/>
              <a:t>abil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3AFA46-4814-2DAA-F416-09B3419368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000">
                <a:ea typeface="+mn-lt"/>
                <a:cs typeface="+mn-lt"/>
              </a:rPr>
              <a:t>CREATE</a:t>
            </a:r>
          </a:p>
          <a:p>
            <a:pPr marL="285750" indent="-285750">
              <a:lnSpc>
                <a:spcPct val="150000"/>
              </a:lnSpc>
            </a:pPr>
            <a:r>
              <a:rPr lang="en-US" sz="2000">
                <a:ea typeface="Inter"/>
                <a:cs typeface="+mn-lt"/>
              </a:rPr>
              <a:t>INSERT</a:t>
            </a:r>
            <a:endParaRPr lang="en-US" sz="2000"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2000">
                <a:ea typeface="Inter"/>
                <a:cs typeface="+mn-lt"/>
              </a:rPr>
              <a:t>ALTER</a:t>
            </a:r>
          </a:p>
          <a:p>
            <a:pPr marL="285750" indent="-285750">
              <a:lnSpc>
                <a:spcPct val="150000"/>
              </a:lnSpc>
            </a:pPr>
            <a:r>
              <a:rPr lang="en-US" sz="2000">
                <a:ea typeface="Inter"/>
                <a:cs typeface="+mn-lt"/>
              </a:rPr>
              <a:t>UPDATE</a:t>
            </a:r>
            <a:endParaRPr lang="en-US" sz="2000"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2000">
                <a:ea typeface="Inter"/>
                <a:cs typeface="+mn-lt"/>
              </a:rPr>
              <a:t>DROP</a:t>
            </a:r>
            <a:endParaRPr lang="en-US" sz="200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endParaRPr lang="en-US" sz="200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ea typeface="Inter"/>
                <a:cs typeface="+mn-lt"/>
              </a:rPr>
              <a:t>NB! Kui </a:t>
            </a:r>
            <a:r>
              <a:rPr lang="en-US" sz="2000" err="1">
                <a:ea typeface="Inter"/>
                <a:cs typeface="+mn-lt"/>
              </a:rPr>
              <a:t>päring</a:t>
            </a:r>
            <a:r>
              <a:rPr lang="en-US" sz="2000">
                <a:ea typeface="Inter"/>
                <a:cs typeface="+mn-lt"/>
              </a:rPr>
              <a:t> on </a:t>
            </a:r>
            <a:r>
              <a:rPr lang="en-US" sz="2000" err="1">
                <a:ea typeface="Inter"/>
                <a:cs typeface="+mn-lt"/>
              </a:rPr>
              <a:t>jooksutatud</a:t>
            </a:r>
            <a:r>
              <a:rPr lang="en-US" sz="2000">
                <a:ea typeface="Inter"/>
                <a:cs typeface="+mn-lt"/>
              </a:rPr>
              <a:t>, </a:t>
            </a:r>
            <a:r>
              <a:rPr lang="en-US" sz="2000" err="1">
                <a:ea typeface="Inter"/>
                <a:cs typeface="+mn-lt"/>
              </a:rPr>
              <a:t>siis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ei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saa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muudatusi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lihtsalt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tagasi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võtta</a:t>
            </a:r>
            <a:r>
              <a:rPr lang="en-US" sz="2000">
                <a:ea typeface="Inter"/>
                <a:cs typeface="+mn-lt"/>
              </a:rPr>
              <a:t>, </a:t>
            </a:r>
            <a:r>
              <a:rPr lang="en-US" sz="2000" err="1">
                <a:ea typeface="Inter"/>
                <a:cs typeface="+mn-lt"/>
              </a:rPr>
              <a:t>seega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tuleb</a:t>
            </a:r>
            <a:r>
              <a:rPr lang="en-US" sz="2000">
                <a:ea typeface="Inter"/>
                <a:cs typeface="+mn-lt"/>
              </a:rPr>
              <a:t> olla </a:t>
            </a:r>
            <a:r>
              <a:rPr lang="en-US" sz="2000" err="1">
                <a:ea typeface="Inter"/>
                <a:cs typeface="+mn-lt"/>
              </a:rPr>
              <a:t>kindel</a:t>
            </a:r>
            <a:r>
              <a:rPr lang="en-US" sz="2000">
                <a:ea typeface="Inter"/>
                <a:cs typeface="+mn-lt"/>
              </a:rPr>
              <a:t>, et </a:t>
            </a:r>
            <a:r>
              <a:rPr lang="en-US" sz="2000" err="1">
                <a:ea typeface="Inter"/>
                <a:cs typeface="+mn-lt"/>
              </a:rPr>
              <a:t>muudatuse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päring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teeb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õiget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asja</a:t>
            </a:r>
            <a:r>
              <a:rPr lang="en-US" sz="2000">
                <a:ea typeface="Inter"/>
                <a:cs typeface="+mn-lt"/>
              </a:rPr>
              <a:t>.</a:t>
            </a:r>
            <a:endParaRPr lang="en-US" sz="200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>
              <a:cs typeface="+mn-lt"/>
            </a:endParaRPr>
          </a:p>
          <a:p>
            <a:pPr marL="0" indent="0">
              <a:buNone/>
            </a:pPr>
            <a:endParaRPr lang="en-US">
              <a:cs typeface="+mn-lt"/>
            </a:endParaRPr>
          </a:p>
          <a:p>
            <a:endParaRPr lang="en-US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5446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D6ECC-EA01-FFED-B7EB-B180AFB5E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AAA5C-5C05-F132-EB20-4628BD9557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DBeaver</a:t>
            </a:r>
            <a:r>
              <a:rPr lang="en-US"/>
              <a:t> – </a:t>
            </a:r>
            <a:r>
              <a:rPr lang="en-US" err="1"/>
              <a:t>andmetabelite</a:t>
            </a:r>
            <a:r>
              <a:rPr lang="en-US"/>
              <a:t> </a:t>
            </a:r>
            <a:r>
              <a:rPr lang="en-US" err="1"/>
              <a:t>loomine</a:t>
            </a:r>
            <a:r>
              <a:rPr lang="en-US"/>
              <a:t> ja </a:t>
            </a:r>
            <a:r>
              <a:rPr lang="en-US" err="1"/>
              <a:t>muutmine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0E0336-9570-F87B-8FD7-66C1B297155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400">
                <a:ea typeface="Inter"/>
                <a:cs typeface="+mn-lt"/>
              </a:rPr>
              <a:t>Loome </a:t>
            </a:r>
            <a:r>
              <a:rPr lang="en-US" sz="2400" err="1">
                <a:ea typeface="Inter"/>
                <a:cs typeface="+mn-lt"/>
              </a:rPr>
              <a:t>koos</a:t>
            </a:r>
            <a:r>
              <a:rPr lang="en-US" sz="2400">
                <a:ea typeface="Inter"/>
                <a:cs typeface="+mn-lt"/>
              </a:rPr>
              <a:t>: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SQL_tabeli_muutmine.sql</a:t>
            </a:r>
            <a:endParaRPr lang="en-US" sz="2400" err="1">
              <a:solidFill>
                <a:srgbClr val="121212"/>
              </a:solidFill>
              <a:ea typeface="Inter"/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>
              <a:solidFill>
                <a:srgbClr val="121212"/>
              </a:solidFill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>
              <a:cs typeface="+mn-lt"/>
            </a:endParaRPr>
          </a:p>
          <a:p>
            <a:pPr marL="0" indent="0">
              <a:buClr>
                <a:srgbClr val="121212"/>
              </a:buClr>
              <a:buNone/>
            </a:pPr>
            <a:endParaRPr lang="en-US">
              <a:cs typeface="+mn-lt"/>
            </a:endParaRPr>
          </a:p>
          <a:p>
            <a:endParaRPr lang="en-US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507908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502</Words>
  <Application>Microsoft Office PowerPoint</Application>
  <PresentationFormat>Widescreen</PresentationFormat>
  <Paragraphs>84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Inter Bold</vt:lpstr>
      <vt:lpstr>Poppins SemiBold</vt:lpstr>
      <vt:lpstr>Inter</vt:lpstr>
      <vt:lpstr>Wingdings</vt:lpstr>
      <vt:lpstr>Calibri</vt:lpstr>
      <vt:lpstr>BCS</vt:lpstr>
      <vt:lpstr>Vali Andmetarkus!</vt:lpstr>
      <vt:lpstr>Päevakava - VI päev</vt:lpstr>
      <vt:lpstr>PostgreSQL</vt:lpstr>
      <vt:lpstr>PostgreSQL baasi nimetamispraktikad</vt:lpstr>
      <vt:lpstr>Põhilised andmetüübid PostgreSQL</vt:lpstr>
      <vt:lpstr>DBeaver – andmete lisamine andmebaasi UI kaudu</vt:lpstr>
      <vt:lpstr>Paus 10:30-10:45</vt:lpstr>
      <vt:lpstr>SQL – tabelite ühendamine</vt:lpstr>
      <vt:lpstr>DBeaver – tabelite ühendamine</vt:lpstr>
      <vt:lpstr>Lõunapaus 12:15-13:15</vt:lpstr>
      <vt:lpstr>Dbeaver – andmete ühendamine – vaatame lahendused üle</vt:lpstr>
      <vt:lpstr>Paus 14:45-15:00</vt:lpstr>
      <vt:lpstr>DBeaver – andmete lisamine andmebaasi SQL abil</vt:lpstr>
      <vt:lpstr>DBeaver – andmetabelite loomine ja muutmine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Virve Räni</cp:lastModifiedBy>
  <cp:revision>36</cp:revision>
  <dcterms:created xsi:type="dcterms:W3CDTF">2021-08-27T11:35:28Z</dcterms:created>
  <dcterms:modified xsi:type="dcterms:W3CDTF">2026-04-06T19:42:04Z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